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7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59" r:id="rId6"/>
    <p:sldId id="261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Franklin Gothic" panose="020B0604020202020204" charset="0"/>
      <p:bold r:id="rId15"/>
    </p:embeddedFont>
    <p:embeddedFont>
      <p:font typeface="Libre Franklin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1sBDdHb2XsYteFNPHBFMUQvu/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>
      <p:cViewPr>
        <p:scale>
          <a:sx n="75" d="100"/>
          <a:sy n="75" d="100"/>
        </p:scale>
        <p:origin x="946" y="1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0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0741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663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576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1014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8269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95130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4707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3710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08731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5763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3207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29768775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2722447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19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1003107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/>
              <a:t>Important Pointers for the Idea Submission </a:t>
            </a:r>
            <a:endParaRPr dirty="0"/>
          </a:p>
        </p:txBody>
      </p:sp>
      <p:sp>
        <p:nvSpPr>
          <p:cNvPr id="245" name="Google Shape;245;p5"/>
          <p:cNvSpPr txBox="1">
            <a:spLocks noGrp="1"/>
          </p:cNvSpPr>
          <p:nvPr>
            <p:ph type="body" idx="1"/>
          </p:nvPr>
        </p:nvSpPr>
        <p:spPr>
          <a:xfrm>
            <a:off x="971550" y="2162354"/>
            <a:ext cx="10572561" cy="392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Kindly keep the maximum slides limit to 4 pages.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All the topics should be utilized for description of your idea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Try to avoid paragraphs and post your idea in points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Keep your explanation precisely and easy to understand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Idea should be unique and novel. If it has a business potential more weightage will be given. 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Apart from this PPT abstract of your idea will be asked separately while submitting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You need to save the file in PDF and upload the same on portal. No PPT, Word Doc or any other format will be supported.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You can use own theme for the slides.</a:t>
            </a:r>
            <a:endParaRPr dirty="0"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You can delete this slide (Important Pointers) when you upload the details of your idea on KAVACH PORTAL.</a:t>
            </a:r>
            <a:endParaRPr dirty="0"/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2"/>
          </p:nvPr>
        </p:nvSpPr>
        <p:spPr>
          <a:xfrm>
            <a:off x="971550" y="15995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dirty="0">
                <a:solidFill>
                  <a:schemeClr val="tx1"/>
                </a:solidFill>
              </a:rPr>
              <a:t>Please ensure below pointers are met while  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6" name="Google Shape;246;p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>
            <a:spLocks noGrp="1"/>
          </p:cNvSpPr>
          <p:nvPr>
            <p:ph type="ctrTitle"/>
          </p:nvPr>
        </p:nvSpPr>
        <p:spPr>
          <a:xfrm>
            <a:off x="388322" y="423933"/>
            <a:ext cx="11041678" cy="1151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anklin Gothic"/>
              <a:buNone/>
            </a:pPr>
            <a:r>
              <a:rPr lang="en-US" sz="3600" b="1" dirty="0"/>
              <a:t>Basic Details of the Team and Problem Statement</a:t>
            </a:r>
            <a:endParaRPr dirty="0"/>
          </a:p>
        </p:txBody>
      </p:sp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388322" y="1103970"/>
            <a:ext cx="11481124" cy="4861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PSID: KVH-009</a:t>
            </a: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  </a:t>
            </a:r>
            <a:b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Problem Statement Title: Advanced CCTV analytics solution</a:t>
            </a: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Name: YouOnlyWinOnce-v6</a:t>
            </a: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Team Leader Name: Kashyap </a:t>
            </a:r>
            <a:r>
              <a:rPr lang="en-US" b="1" dirty="0" err="1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chandra</a:t>
            </a: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Institute Code (AISHE): </a:t>
            </a: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b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en-US" b="1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Institute Name: Indian institute of information technology Kottayam</a:t>
            </a:r>
            <a:endParaRPr b="1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b="1" dirty="0">
              <a:solidFill>
                <a:schemeClr val="tx1"/>
              </a:solidFill>
              <a:latin typeface="Franklin Gothic"/>
              <a:ea typeface="Franklin Gothic"/>
              <a:cs typeface="Franklin Gothic"/>
              <a:sym typeface="Frankli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94228" y="144261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218" name="Google Shape;218;p2"/>
          <p:cNvSpPr txBox="1">
            <a:spLocks noGrp="1"/>
          </p:cNvSpPr>
          <p:nvPr>
            <p:ph type="body" idx="1"/>
          </p:nvPr>
        </p:nvSpPr>
        <p:spPr>
          <a:xfrm>
            <a:off x="94228" y="755124"/>
            <a:ext cx="7165215" cy="582474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The proposed idea is a 2- stage verification intelligent surveillance system </a:t>
            </a:r>
            <a:r>
              <a:rPr lang="en-US" dirty="0" err="1"/>
              <a:t>ie</a:t>
            </a:r>
            <a:r>
              <a:rPr lang="en-US" dirty="0"/>
              <a:t> , one on CCTV side and one on server side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First the important objects will be detected like person, vehicles, bags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The detected objects will be tracked (to lower the computation)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An object detection module will detect if abnormal behavior on tracked objects 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On server side the a face recognition and a vehicle number plate detection module will be monitoring</a:t>
            </a:r>
          </a:p>
          <a:p>
            <a:pPr marL="285750" indent="-285750">
              <a:buFont typeface="Noto Sans Symbols"/>
              <a:buChar char="⮚"/>
            </a:pPr>
            <a:r>
              <a:rPr lang="en-US" dirty="0"/>
              <a:t>In case of any abnormal behavior that point time from the CCTV will be sent to database and on the server side the abnormality will be segmented and create a report with 20sec video along with location and time </a:t>
            </a:r>
          </a:p>
          <a:p>
            <a:pPr marL="285750" indent="-285750">
              <a:buFont typeface="Noto Sans Symbols"/>
              <a:buChar char="⮚"/>
            </a:pPr>
            <a:r>
              <a:rPr lang="en-US" dirty="0"/>
              <a:t>Based on the location an alert will be generated on to connected mobile (connected to cloud) and buzzer will be alerted in near by police station</a:t>
            </a:r>
          </a:p>
          <a:p>
            <a:pPr marL="285750" indent="-285750">
              <a:buFont typeface="Noto Sans Symbols"/>
              <a:buChar char="⮚"/>
            </a:pPr>
            <a:r>
              <a:rPr lang="en-US" dirty="0"/>
              <a:t>New alerts will be displayed in a simple GUI window and remaining details will be stored in a database</a:t>
            </a:r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7378575" y="3667497"/>
            <a:ext cx="4689138" cy="29123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 dirty="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Technology stack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 dirty="0"/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Raspberry pi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Y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olo v-8 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sym typeface="Libre Franklin"/>
              </a:rPr>
              <a:t>Kalman’s filter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sym typeface="Libre Franklin"/>
              </a:rPr>
              <a:t>Mask RCNN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sym typeface="Libre Franklin"/>
              </a:rPr>
              <a:t>Face-net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sym typeface="Libre Franklin"/>
              </a:rPr>
              <a:t>Push bullet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F697772-8610-FDD5-25A2-46045E1EE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837" y="144261"/>
            <a:ext cx="3694206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229" name="Google Shape;229;p3"/>
          <p:cNvSpPr txBox="1">
            <a:spLocks noGrp="1"/>
          </p:cNvSpPr>
          <p:nvPr>
            <p:ph type="body" idx="1"/>
          </p:nvPr>
        </p:nvSpPr>
        <p:spPr>
          <a:xfrm>
            <a:off x="1" y="983022"/>
            <a:ext cx="5780808" cy="559684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This project can be used in public mall to detect any  robbery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dirty="0"/>
              <a:t> 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Intelligence department activities related to surveillance.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Detecting criminal activities from surveillance videos.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Crime detection, including identifying if a criminal activity occurred in a recorded video or frame.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dirty="0"/>
              <a:t>Crime detection and classification, which involves extending crime detection to classify the type of crime, such as burglary, shooting, fighting, etc.</a:t>
            </a: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228" name="Google Shape;228;p3"/>
          <p:cNvSpPr txBox="1">
            <a:spLocks noGrp="1"/>
          </p:cNvSpPr>
          <p:nvPr>
            <p:ph type="body" idx="2"/>
          </p:nvPr>
        </p:nvSpPr>
        <p:spPr>
          <a:xfrm>
            <a:off x="0" y="638985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IN" dirty="0">
                <a:solidFill>
                  <a:schemeClr val="tx1"/>
                </a:solidFill>
              </a:rPr>
              <a:t>Use-Cases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5780809" y="638984"/>
            <a:ext cx="51435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tx1"/>
                </a:solidFill>
                <a:latin typeface="Franklin Gothic"/>
                <a:sym typeface="Franklin Gothic"/>
              </a:rPr>
              <a:t>Show stopper and dependencies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32" name="Google Shape;232;p3"/>
          <p:cNvSpPr txBox="1"/>
          <p:nvPr/>
        </p:nvSpPr>
        <p:spPr>
          <a:xfrm>
            <a:off x="5780809" y="983022"/>
            <a:ext cx="6411192" cy="559684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The main idea that differ in this project form another models is here we are using custom made object tracking model to minimize the computation in CCTV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added additional functionalities like face recognition for detecting any unauthorized person and vehicle number plate detection and </a:t>
            </a: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OCR </a:t>
            </a: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to detect any filed missing vehicles 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We are using two way verification for abnormality </a:t>
            </a:r>
          </a:p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b="0" i="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At the frontend  we</a:t>
            </a: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integrate camera module with raspberry pi. The data captured by camera module is processed in raspberry pi using ML lite.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 processed data is sent to cloud using IOT.  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Raspberry pi alerts the police by sending a push notification to his/her mobile using push-bullet platform. 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There’s also other alerting system where a buzzer is buzzed which is integrated with IOT using raspberry pi at the police side when there is an abnormality is detected.</a:t>
            </a: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dirty="0">
              <a:solidFill>
                <a:schemeClr val="dk1"/>
              </a:solidFill>
              <a:latin typeface="Libre Franklin"/>
              <a:sym typeface="Libre Franklin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221908" y="254594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dirty="0"/>
              <a:t>Team Member Details </a:t>
            </a:r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943168"/>
              </p:ext>
            </p:extLst>
          </p:nvPr>
        </p:nvGraphicFramePr>
        <p:xfrm>
          <a:off x="221908" y="1009338"/>
          <a:ext cx="11687596" cy="3183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032">
                  <a:extLst>
                    <a:ext uri="{9D8B030D-6E8A-4147-A177-3AD203B41FA5}">
                      <a16:colId xmlns:a16="http://schemas.microsoft.com/office/drawing/2014/main" val="2824836338"/>
                    </a:ext>
                  </a:extLst>
                </a:gridCol>
                <a:gridCol w="2976832">
                  <a:extLst>
                    <a:ext uri="{9D8B030D-6E8A-4147-A177-3AD203B41FA5}">
                      <a16:colId xmlns:a16="http://schemas.microsoft.com/office/drawing/2014/main" val="648567316"/>
                    </a:ext>
                  </a:extLst>
                </a:gridCol>
                <a:gridCol w="1947933">
                  <a:extLst>
                    <a:ext uri="{9D8B030D-6E8A-4147-A177-3AD203B41FA5}">
                      <a16:colId xmlns:a16="http://schemas.microsoft.com/office/drawing/2014/main" val="414414887"/>
                    </a:ext>
                  </a:extLst>
                </a:gridCol>
                <a:gridCol w="1947933">
                  <a:extLst>
                    <a:ext uri="{9D8B030D-6E8A-4147-A177-3AD203B41FA5}">
                      <a16:colId xmlns:a16="http://schemas.microsoft.com/office/drawing/2014/main" val="3526582794"/>
                    </a:ext>
                  </a:extLst>
                </a:gridCol>
                <a:gridCol w="847558">
                  <a:extLst>
                    <a:ext uri="{9D8B030D-6E8A-4147-A177-3AD203B41FA5}">
                      <a16:colId xmlns:a16="http://schemas.microsoft.com/office/drawing/2014/main" val="79086586"/>
                    </a:ext>
                  </a:extLst>
                </a:gridCol>
                <a:gridCol w="3048308">
                  <a:extLst>
                    <a:ext uri="{9D8B030D-6E8A-4147-A177-3AD203B41FA5}">
                      <a16:colId xmlns:a16="http://schemas.microsoft.com/office/drawing/2014/main" val="3249055975"/>
                    </a:ext>
                  </a:extLst>
                </a:gridCol>
              </a:tblGrid>
              <a:tr h="629646">
                <a:tc>
                  <a:txBody>
                    <a:bodyPr/>
                    <a:lstStyle/>
                    <a:p>
                      <a:r>
                        <a:rPr lang="en-US" dirty="0"/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Team Member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Branch</a:t>
                      </a:r>
                      <a:r>
                        <a:rPr lang="en-US" baseline="0" dirty="0"/>
                        <a:t> 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Btech</a:t>
                      </a:r>
                      <a:r>
                        <a:rPr lang="en-US" sz="1800" dirty="0"/>
                        <a:t>/</a:t>
                      </a:r>
                      <a:r>
                        <a:rPr lang="en-US" sz="1800" dirty="0" err="1"/>
                        <a:t>Mtech</a:t>
                      </a:r>
                      <a:r>
                        <a:rPr lang="en-US" sz="1800" dirty="0"/>
                        <a:t>/PhD </a:t>
                      </a:r>
                      <a:r>
                        <a:rPr lang="en-US" sz="1800" dirty="0" err="1"/>
                        <a:t>etc</a:t>
                      </a:r>
                      <a:r>
                        <a:rPr lang="en-US" sz="1800" dirty="0"/>
                        <a:t>):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Stream (ECE, CSE </a:t>
                      </a:r>
                      <a:r>
                        <a:rPr lang="en-US" sz="1800" dirty="0" err="1"/>
                        <a:t>etc</a:t>
                      </a:r>
                      <a:r>
                        <a:rPr lang="en-US" sz="1800" dirty="0"/>
                        <a:t>):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Year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Position</a:t>
                      </a:r>
                      <a:r>
                        <a:rPr lang="en-US" baseline="0" dirty="0"/>
                        <a:t> in team </a:t>
                      </a:r>
                      <a:r>
                        <a:rPr lang="en-US" sz="1200" baseline="0" dirty="0"/>
                        <a:t>(Team Leader, Front end Developer, Back end Developer, Full Stack, Data base management etc.)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876814"/>
                  </a:ext>
                </a:extLst>
              </a:tr>
              <a:tr h="44075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Kashyap Chandra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III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Team Leader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5727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Ashutosh 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III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Computer 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725522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Manikanta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III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Computer 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168005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Abhinav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III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Internet of 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07208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Sudheer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III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Computer 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030234"/>
                  </a:ext>
                </a:extLst>
              </a:tr>
              <a:tr h="255356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Nithisha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tech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Back-end 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192424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967372"/>
              </p:ext>
            </p:extLst>
          </p:nvPr>
        </p:nvGraphicFramePr>
        <p:xfrm>
          <a:off x="221909" y="5259966"/>
          <a:ext cx="11687594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838">
                  <a:extLst>
                    <a:ext uri="{9D8B030D-6E8A-4147-A177-3AD203B41FA5}">
                      <a16:colId xmlns:a16="http://schemas.microsoft.com/office/drawing/2014/main" val="2824836338"/>
                    </a:ext>
                  </a:extLst>
                </a:gridCol>
                <a:gridCol w="3572199">
                  <a:extLst>
                    <a:ext uri="{9D8B030D-6E8A-4147-A177-3AD203B41FA5}">
                      <a16:colId xmlns:a16="http://schemas.microsoft.com/office/drawing/2014/main" val="648567316"/>
                    </a:ext>
                  </a:extLst>
                </a:gridCol>
                <a:gridCol w="2337519">
                  <a:extLst>
                    <a:ext uri="{9D8B030D-6E8A-4147-A177-3AD203B41FA5}">
                      <a16:colId xmlns:a16="http://schemas.microsoft.com/office/drawing/2014/main" val="414414887"/>
                    </a:ext>
                  </a:extLst>
                </a:gridCol>
                <a:gridCol w="2337519">
                  <a:extLst>
                    <a:ext uri="{9D8B030D-6E8A-4147-A177-3AD203B41FA5}">
                      <a16:colId xmlns:a16="http://schemas.microsoft.com/office/drawing/2014/main" val="3526582794"/>
                    </a:ext>
                  </a:extLst>
                </a:gridCol>
                <a:gridCol w="2337519">
                  <a:extLst>
                    <a:ext uri="{9D8B030D-6E8A-4147-A177-3AD203B41FA5}">
                      <a16:colId xmlns:a16="http://schemas.microsoft.com/office/drawing/2014/main" val="79086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of Mentor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Category </a:t>
                      </a:r>
                      <a:r>
                        <a:rPr lang="en-US" sz="1600" dirty="0"/>
                        <a:t>(Academic/Industry):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Expertise </a:t>
                      </a:r>
                      <a:r>
                        <a:rPr lang="en-US" sz="1400" dirty="0"/>
                        <a:t>(AI/ML/</a:t>
                      </a:r>
                      <a:r>
                        <a:rPr lang="en-US" sz="1400" dirty="0" err="1"/>
                        <a:t>Blockchain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etc</a:t>
                      </a:r>
                      <a:r>
                        <a:rPr lang="en-US" sz="1400" dirty="0"/>
                        <a:t>):</a:t>
                      </a:r>
                      <a:r>
                        <a:rPr lang="en-US" sz="180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Domain Experience  </a:t>
                      </a:r>
                      <a:r>
                        <a:rPr lang="en-US" sz="1600" dirty="0"/>
                        <a:t>(in Years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876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Dr. Bhanu Chander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Academic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75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725522"/>
                  </a:ext>
                </a:extLst>
              </a:tr>
            </a:tbl>
          </a:graphicData>
        </a:graphic>
      </p:graphicFrame>
      <p:sp>
        <p:nvSpPr>
          <p:cNvPr id="7" name="Google Shape;237;p4"/>
          <p:cNvSpPr txBox="1">
            <a:spLocks/>
          </p:cNvSpPr>
          <p:nvPr/>
        </p:nvSpPr>
        <p:spPr>
          <a:xfrm>
            <a:off x="221908" y="4520051"/>
            <a:ext cx="6617507" cy="6108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kern="1200">
                <a:solidFill>
                  <a:schemeClr val="tx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Team Mentor/s Details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63" y="1825624"/>
            <a:ext cx="11634537" cy="4683459"/>
          </a:xfrm>
        </p:spPr>
        <p:txBody>
          <a:bodyPr/>
          <a:lstStyle/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Thank you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483324" y="1244062"/>
            <a:ext cx="11194869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Content Placeholder 3"/>
          <p:cNvSpPr txBox="1">
            <a:spLocks/>
          </p:cNvSpPr>
          <p:nvPr/>
        </p:nvSpPr>
        <p:spPr>
          <a:xfrm>
            <a:off x="509337" y="1508960"/>
            <a:ext cx="10956758" cy="5012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IN" sz="4000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1C4040-42A3-4791-9730-EEB20AF4A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282" y="48659"/>
            <a:ext cx="2135541" cy="11959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504F6D-2240-45AC-AAB7-590A394F25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2251" y="60604"/>
            <a:ext cx="1197606" cy="11976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176" y="85606"/>
            <a:ext cx="2043954" cy="10909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14" y="61125"/>
            <a:ext cx="3251369" cy="120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07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757</Words>
  <Application>Microsoft Office PowerPoint</Application>
  <PresentationFormat>Widescreen</PresentationFormat>
  <Paragraphs>125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Franklin Gothic</vt:lpstr>
      <vt:lpstr>Calibri</vt:lpstr>
      <vt:lpstr>Calibri Light</vt:lpstr>
      <vt:lpstr>Libre Franklin</vt:lpstr>
      <vt:lpstr>Noto Sans Symbols</vt:lpstr>
      <vt:lpstr>Office Theme</vt:lpstr>
      <vt:lpstr>Important Pointers for the Idea Submission </vt:lpstr>
      <vt:lpstr>Basic Details of the Team and Problem Statement</vt:lpstr>
      <vt:lpstr>Idea/Approach Details</vt:lpstr>
      <vt:lpstr>Idea/Approach Details</vt:lpstr>
      <vt:lpstr>Team Member Details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Sarim Moin</dc:creator>
  <cp:lastModifiedBy>Kashyap Chandra</cp:lastModifiedBy>
  <cp:revision>5</cp:revision>
  <dcterms:created xsi:type="dcterms:W3CDTF">2022-02-11T07:14:46Z</dcterms:created>
  <dcterms:modified xsi:type="dcterms:W3CDTF">2023-04-06T18:55:24Z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